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9" r:id="rId15"/>
    <p:sldId id="266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12192000"/>
  <p:embeddedFontLst>
    <p:embeddedFont>
      <p:font typeface="微软雅黑" panose="020B0503020204020204" pitchFamily="34" charset="-122"/>
      <p:regular r:id="rId31"/>
    </p:embeddedFont>
    <p:embeddedFont>
      <p:font typeface="微软雅黑" panose="020B0503020204020204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29.png"/><Relationship Id="rId2" Type="http://schemas.openxmlformats.org/officeDocument/2006/relationships/image" Target="../media/image6.jpeg"/><Relationship Id="rId1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汇报人：王旭  2312166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/18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简化路由器程序设计实验报告</a:t>
            </a:r>
            <a:endParaRPr lang="en-US" sz="1600" dirty="0"/>
          </a:p>
        </p:txBody>
      </p:sp>
      <p:pic>
        <p:nvPicPr>
          <p:cNvPr id="1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3720" y="1275970"/>
            <a:ext cx="3698802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网络技术与应用lab5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85" y="4310380"/>
            <a:ext cx="7179310" cy="7366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85" y="3512185"/>
            <a:ext cx="71793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85" y="2701925"/>
            <a:ext cx="7179310" cy="7366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85" y="1891665"/>
            <a:ext cx="7179310" cy="7366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85" y="1081405"/>
            <a:ext cx="7179310" cy="7366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2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1045210" y="2010410"/>
            <a:ext cx="2663190" cy="433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1" name="Shape 4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11459749" y="52269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11459749" y="52269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11459749" y="62129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11459749" y="62129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11459749" y="63098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1459749" y="63098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9" name="Image 6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20" name="Image 7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684510" y="779780"/>
            <a:ext cx="2170430" cy="5689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305935" y="1137285"/>
            <a:ext cx="842010" cy="562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5147310" y="1270635"/>
            <a:ext cx="6027420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网络拓扑与整体架构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4305935" y="1939925"/>
            <a:ext cx="842010" cy="562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5147310" y="2081530"/>
            <a:ext cx="6268085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关键数据结构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4305935" y="2762250"/>
            <a:ext cx="842010" cy="562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5147310" y="2879090"/>
            <a:ext cx="6268085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初始化与路由管理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4305935" y="3576320"/>
            <a:ext cx="868680" cy="562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5147310" y="3699510"/>
            <a:ext cx="6268085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ARP协议与IP转发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4305935" y="4354195"/>
            <a:ext cx="842010" cy="562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5147310" y="4493895"/>
            <a:ext cx="6268085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测试验证与总结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网络拓扑与整体架构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920" y="1608455"/>
            <a:ext cx="4345940" cy="5486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52170" y="1616710"/>
            <a:ext cx="43459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96645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实验概述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075" y="4005580"/>
            <a:ext cx="4345940" cy="54864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9325" y="4013835"/>
            <a:ext cx="4345940" cy="54864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534015" y="876300"/>
            <a:ext cx="762000" cy="76200"/>
          </a:xfrm>
          <a:prstGeom prst="rect">
            <a:avLst/>
          </a:prstGeom>
        </p:spPr>
      </p:pic>
      <p:pic>
        <p:nvPicPr>
          <p:cNvPr id="15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534015" y="1007110"/>
            <a:ext cx="762000" cy="76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52855" y="1716405"/>
            <a:ext cx="3642995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实验目标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890270" y="223456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实现一个工作在用户态的简化路由器程序，深入理解网络层协议交互机制，掌握路由器基本工作原理，提升系统编程与网络调试能力。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1350010" y="4113530"/>
            <a:ext cx="3642995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90270" y="464185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IP数据包转发、ARP协议处理、路由表管理、网络连通性保障，涵盖路由器主要功能，确保数据正确传输。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312025" y="173609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实验环境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835775" y="223202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VMware虚拟机与Windows物理机结合，构建稳定实验环境，便于网络配置与数据抓包分析，同时避免Windows2003虚拟机下的环境无法运行当前编译版本的.exe程序。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7409180" y="4133215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实验意义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35775" y="463931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通过实践加深对网络技术的理解，为后续学习和研究提供基础，培养解决实际问题的能力。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647700"/>
            <a:ext cx="1064958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网络拓扑图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37040" y="60286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478260" y="57353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8260" y="57353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78260" y="58323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8260" y="58323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78260" y="59293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78260" y="59293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980" y="123507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22755" y="164655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770505" y="1663065"/>
            <a:ext cx="7732395" cy="588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拓扑图展示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710055" y="366204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757805" y="3662045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IP地址分配表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757805" y="4244975"/>
            <a:ext cx="7731760" cy="1938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(1)主机A：206.1.1.2，网络适配器设置：VMnet8(NAT模式)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(2)路由器A：本主机的VMnet8网卡，配置双IP：206.1.1.1/206.1.2.1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(3)路由器B：双网卡分别配置单IP。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       本地连接1：206.1.2.2，对应网络适配器1设置：VMnet8(NAT模式)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       本地连接2:  206.1.3.1， 对应网络适配器2设置：VMnet1(仅主机模式)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(4)主机B：206.1.3.2，网络适配器设置：VMnet1(仅主机模式)             </a:t>
            </a:r>
            <a:endParaRPr lang="en-US" sz="1600" dirty="0"/>
          </a:p>
        </p:txBody>
      </p:sp>
      <p:pic>
        <p:nvPicPr>
          <p:cNvPr id="19" name="Image 4" descr="https://kimi-img.moonshot.cn/pub/slides/25-12-17-22:17:20-d51bms600qr1uhigsps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198" y="1224280"/>
            <a:ext cx="6043444" cy="277505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关键数据结构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2"/>
          <a:srcRect l="39072" r="39072"/>
          <a:stretch>
            <a:fillRect/>
          </a:stretch>
        </p:blipFill>
        <p:spPr>
          <a:xfrm>
            <a:off x="9038590" y="2217420"/>
            <a:ext cx="2792095" cy="415163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rcRect l="41052" r="41052"/>
          <a:stretch>
            <a:fillRect/>
          </a:stretch>
        </p:blipFill>
        <p:spPr>
          <a:xfrm>
            <a:off x="6208395" y="1775460"/>
            <a:ext cx="2792095" cy="415163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2"/>
          <a:srcRect l="39072" r="39072"/>
          <a:stretch>
            <a:fillRect/>
          </a:stretch>
        </p:blipFill>
        <p:spPr>
          <a:xfrm>
            <a:off x="3331210" y="2214245"/>
            <a:ext cx="2792095" cy="415163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rcRect l="41052" r="41052"/>
          <a:stretch>
            <a:fillRect/>
          </a:stretch>
        </p:blipFill>
        <p:spPr>
          <a:xfrm>
            <a:off x="459740" y="1775460"/>
            <a:ext cx="2792095" cy="415163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535305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设计思路 - 整体架构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8" name="Text 2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0" name="Text 4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2" name="Text 6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</p:sp>
      <p:sp>
        <p:nvSpPr>
          <p:cNvPr id="14" name="Text 8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2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582295" y="2214245"/>
            <a:ext cx="24771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模块化设计理念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11505" y="2829560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采用模块化设计，将程序划分为多个独立模块，便于开发、调试与维护，提高代码可读性和可扩展性。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3442970" y="265557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核心模块划分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3510280" y="3270885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(1)初始化模块负责网卡选择与地址获取；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(2)路由管理模块操作路由表；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(3)协议处理模块处理ARP/IP报文；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(4)转发引擎进行数据包转发决策。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323330" y="220091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数据流设计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390640" y="2816225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数据沿捕获、解析、路由查找、转发链路流动，确保数据包按正确路径传输，提高网络传输效率。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116695" y="270446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184005" y="3319780"/>
            <a:ext cx="2461895" cy="2985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模块化架构使各模块功能明确，降低耦合度，便于单独测试与优化，提升整体程序稳定性与性能。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初始化与路由管理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g.png"/>
          <p:cNvPicPr>
            <a:picLocks noChangeAspect="1"/>
          </p:cNvPicPr>
          <p:nvPr/>
        </p:nvPicPr>
        <p:blipFill>
          <a:blip r:embed="rId2">
            <a:alphaModFix amt="40000"/>
          </a:blip>
          <a:srcRect t="12164" b="6895"/>
          <a:stretch>
            <a:fillRect/>
          </a:stretch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设计思路 - 关键数据结构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路由表项结构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RouteEntry包含网络地址、子网掩码、下一跳网关及默认路由标识，为路由查找提供准确信息。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ARP缓存结构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ArpCacheEntry维护IP-MAC映射与老化时间，实现超时淘汰机制，确保MAC地址信息准确有效。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报文头部定义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定义EthernetHeader、IpHeader、ArpPacket等报文头部，确保内存对齐与字段快速访问，为数据包处理提供基础。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" y="0"/>
            <a:ext cx="12192000" cy="29730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1904365" y="1858010"/>
            <a:ext cx="779145" cy="7905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657860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开发实现 - 初始化模块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66775" y="283019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网卡选择机制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使用pcap_findalldevs枚举网络设备，并交互式选择要打开的设备，通过pcap_open_live函数打开对应网络设备，确保程序适配不同网络环境。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655820" y="324802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地址获取实现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通过pcap_addr和sockaddr_in数据结构识别本机单网卡的双IP地址，并通过vector存储到local_ips_all全局变量中。在获取MAC地址后通过全局变量g_local_mac存储，为后续数据包处理提供准确地址信息。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544685" y="204152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444865" y="280987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默认路由自动添加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在获取本机单网卡的双IP地址之后，通过for循环遍历local_ips_all，自动添加默认路由，简化配置流程，提高程序易用性。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1g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90" y="892175"/>
            <a:ext cx="1064958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开发实现 - 路由表管理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路由表操作界面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提供添加、删除、列出路由操作，删除时保护默认路由，确保路由表正确配置。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路由查找算法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采用线性扫描配合掩码位数计算，优先匹配更长前缀，为数据包转发提供准确下一跳地址。</a:t>
            </a:r>
            <a:endParaRPr lang="en-US" sz="1600" dirty="0"/>
          </a:p>
        </p:txBody>
      </p:sp>
      <p:pic>
        <p:nvPicPr>
          <p:cNvPr id="18" name="Image 4" descr="https://kimi-img.moonshot.cn/pub/slides/25-12-17-22:38:18-d51c0mhg4pngkcmcklh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392" y="630555"/>
            <a:ext cx="5648866" cy="3171157"/>
          </a:xfrm>
          <a:prstGeom prst="rect">
            <a:avLst/>
          </a:prstGeom>
        </p:spPr>
      </p:pic>
      <p:pic>
        <p:nvPicPr>
          <p:cNvPr id="19" name="Image 5" descr="https://kimi-img.moonshot.cn/pub/slides/25-12-17-22:38:58-d51c10le09n9sfrah9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452" y="3429000"/>
            <a:ext cx="5742088" cy="3335721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 flipH="1">
            <a:off x="2628959" y="1584281"/>
            <a:ext cx="3546636" cy="866175"/>
          </a:xfrm>
          <a:prstGeom prst="line">
            <a:avLst/>
          </a:prstGeom>
          <a:noFill/>
          <a:ln w="38100">
            <a:solidFill>
              <a:srgbClr val="FF1E02"/>
            </a:solidFill>
            <a:prstDash val="solid"/>
            <a:headEnd type="triangle"/>
            <a:tailEnd type="none"/>
          </a:ln>
        </p:spPr>
      </p:sp>
      <p:sp>
        <p:nvSpPr>
          <p:cNvPr id="21" name="Shape 13"/>
          <p:cNvSpPr/>
          <p:nvPr/>
        </p:nvSpPr>
        <p:spPr>
          <a:xfrm>
            <a:off x="6093659" y="4042346"/>
            <a:ext cx="889585" cy="280922"/>
          </a:xfrm>
          <a:prstGeom prst="line">
            <a:avLst/>
          </a:prstGeom>
          <a:noFill/>
          <a:ln w="38100">
            <a:solidFill>
              <a:srgbClr val="FF1E0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ARP协议与IP转发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779847" y="5083727"/>
            <a:ext cx="8926830" cy="16637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84" y="1264285"/>
            <a:ext cx="8691880" cy="158813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1020" y="440055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开发实现 - ARP协议处理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703649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>
            <a:fillRect/>
          </a:stretch>
        </p:blipFill>
        <p:spPr>
          <a:xfrm>
            <a:off x="248624" y="1772285"/>
            <a:ext cx="688340" cy="69151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>
            <a:fillRect/>
          </a:stretch>
        </p:blipFill>
        <p:spPr>
          <a:xfrm>
            <a:off x="11342187" y="5468537"/>
            <a:ext cx="688340" cy="69151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53069" y="186245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1409404" y="142049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ARP请求响应机制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1409404" y="1772285"/>
            <a:ext cx="7795260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识别目标IP为本机的ARP请求，构造并发送ARP Reply报文，确保链路层通信正常。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11346632" y="5558707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3111952" y="5299627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ARP缓存管理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3111952" y="5651417"/>
            <a:ext cx="779526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动态更新缓存表项，设置超时查询机制，提高ARP缓存效率与准确性。</a:t>
            </a:r>
            <a:endParaRPr lang="en-US" sz="1600" dirty="0"/>
          </a:p>
        </p:txBody>
      </p:sp>
      <p:pic>
        <p:nvPicPr>
          <p:cNvPr id="16" name="Image 7" descr="https://kimi-img.moonshot.cn/pub/slides/25-12-17-22:40:59-d51c1upl51j6dac68dl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624" y="2892425"/>
            <a:ext cx="5367633" cy="2620562"/>
          </a:xfrm>
          <a:prstGeom prst="rect">
            <a:avLst/>
          </a:prstGeom>
        </p:spPr>
      </p:pic>
      <p:pic>
        <p:nvPicPr>
          <p:cNvPr id="17" name="Image 8" descr="https://kimi-img.moonshot.cn/pub/slides/25-12-17-22:42:10-d51c2gntuanv9s8okns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2951" y="2118043"/>
            <a:ext cx="5353726" cy="3025374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 flipV="1">
            <a:off x="931724" y="1677922"/>
            <a:ext cx="515023" cy="1182212"/>
          </a:xfrm>
          <a:prstGeom prst="line">
            <a:avLst/>
          </a:prstGeom>
          <a:noFill/>
          <a:ln w="38100">
            <a:solidFill>
              <a:srgbClr val="FF1E02"/>
            </a:solidFill>
            <a:prstDash val="solid"/>
            <a:headEnd type="none"/>
            <a:tailEnd type="triangle"/>
          </a:ln>
        </p:spPr>
      </p:sp>
      <p:sp>
        <p:nvSpPr>
          <p:cNvPr id="19" name="Shape 8"/>
          <p:cNvSpPr/>
          <p:nvPr/>
        </p:nvSpPr>
        <p:spPr>
          <a:xfrm>
            <a:off x="8060111" y="5177737"/>
            <a:ext cx="1381198" cy="269217"/>
          </a:xfrm>
          <a:prstGeom prst="line">
            <a:avLst/>
          </a:prstGeom>
          <a:noFill/>
          <a:ln w="38100">
            <a:solidFill>
              <a:srgbClr val="FF1E0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开发实现 - IP数据包转发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67201" y="27179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924801" y="27179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7760" y="1972310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转发决策流程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27760" y="271145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判断目的IP是否为本机接收，若非本机则查询路由表获得下一跳，执行转发操作。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728210" y="141287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TTL处理机制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28210" y="212661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TTL减1操作，重新计算校验和，防止错误包在网络中循环，确保数据传输正确性。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328025" y="2104390"/>
            <a:ext cx="2853690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MAC地址解析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28025" y="284353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查询ARP缓存获取目的MAC，若未命中则发送ARP请求，完成以太网头部封装。</a:t>
            </a:r>
            <a:endParaRPr lang="en-US" sz="1600" dirty="0"/>
          </a:p>
        </p:txBody>
      </p:sp>
      <p:pic>
        <p:nvPicPr>
          <p:cNvPr id="13" name="Image 2" descr="https://kimi-img.moonshot.cn/pub/slides/25-12-17-22:44:53-d51c3pfpma9mqinasm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37" y="3936707"/>
            <a:ext cx="5695687" cy="2347547"/>
          </a:xfrm>
          <a:prstGeom prst="rect">
            <a:avLst/>
          </a:prstGeom>
        </p:spPr>
      </p:pic>
      <p:pic>
        <p:nvPicPr>
          <p:cNvPr id="14" name="Image 3" descr="https://kimi-img.moonshot.cn/pub/slides/25-12-17-22:46:07-d51c4bvtuanv9s8olm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724" y="4101465"/>
            <a:ext cx="6035134" cy="212932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6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测试验证与总结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3" name="Text 1"/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5" name="Text 3"/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2155" y="753110"/>
            <a:ext cx="1064958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测试过程 - 路由表管理测试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6" name="Image 2" descr="https://kimi-img.moonshot.cn/pub/slides/25-12-17-22:48:55-d51c5lqm52t4k294cq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67" y="2701687"/>
            <a:ext cx="4725336" cy="1844034"/>
          </a:xfrm>
          <a:prstGeom prst="rect">
            <a:avLst/>
          </a:prstGeom>
        </p:spPr>
      </p:pic>
      <p:pic>
        <p:nvPicPr>
          <p:cNvPr id="17" name="Image 3" descr="https://kimi-img.moonshot.cn/pub/slides/25-12-17-22:49:36-d51c607pma9mqinat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110" y="1675765"/>
            <a:ext cx="6086448" cy="428785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10433" y="3620963"/>
            <a:ext cx="702304" cy="0"/>
          </a:xfrm>
          <a:prstGeom prst="line">
            <a:avLst/>
          </a:prstGeom>
          <a:noFill/>
          <a:ln w="38100">
            <a:solidFill>
              <a:srgbClr val="FF1E0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020" y="532130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测试过程 - ARP功能测试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443210" y="462280"/>
            <a:ext cx="762000" cy="7620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443210" y="593090"/>
            <a:ext cx="762000" cy="76200"/>
          </a:xfrm>
          <a:prstGeom prst="rect">
            <a:avLst/>
          </a:prstGeom>
        </p:spPr>
      </p:pic>
      <p:pic>
        <p:nvPicPr>
          <p:cNvPr id="6" name="Image 2" descr="https://kimi-img.moonshot.cn/pub/slides/25-12-17-22:51:35-d51c6tte09n9sfrakd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66" y="2281464"/>
            <a:ext cx="5090535" cy="2780940"/>
          </a:xfrm>
          <a:prstGeom prst="rect">
            <a:avLst/>
          </a:prstGeom>
        </p:spPr>
      </p:pic>
      <p:pic>
        <p:nvPicPr>
          <p:cNvPr id="7" name="Image 3" descr="https://kimi-img.moonshot.cn/pub/slides/25-12-17-22:55:54-d51c8ule09n9sfral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451" y="1750255"/>
            <a:ext cx="5642487" cy="3621472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403060" y="3480502"/>
            <a:ext cx="866175" cy="0"/>
          </a:xfrm>
          <a:prstGeom prst="line">
            <a:avLst/>
          </a:prstGeom>
          <a:noFill/>
          <a:ln w="38100">
            <a:solidFill>
              <a:srgbClr val="FF1E0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23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测试过程 - 端到端连通性测试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25-12-17-22:54:47-d51c8drmv21jmulrmr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86" y="1810482"/>
            <a:ext cx="5734899" cy="3680607"/>
          </a:xfrm>
          <a:prstGeom prst="rect">
            <a:avLst/>
          </a:prstGeom>
        </p:spPr>
      </p:pic>
      <p:pic>
        <p:nvPicPr>
          <p:cNvPr id="7" name="Image 4" descr="https://kimi-img.moonshot.cn/pub/slides/25-12-17-22:55:15-d51c8krduqb7h9v5tr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682" y="1511935"/>
            <a:ext cx="5769644" cy="44915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rcRect r="15090" b="15201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290" y="2486660"/>
            <a:ext cx="9105265" cy="32880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60" y="1240155"/>
            <a:ext cx="1116965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实验结果验证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085" y="5517515"/>
            <a:ext cx="2170430" cy="5099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05175" y="2801620"/>
            <a:ext cx="3712210" cy="83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实验要求达成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447415" y="3384550"/>
            <a:ext cx="3385820" cy="2392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所有实验要求达成，包括地址获取、路由表管理、日志记录、连通性与TTL值验证。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414260" y="2801620"/>
            <a:ext cx="3712210" cy="830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关键指标对比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556500" y="3384550"/>
            <a:ext cx="3385820" cy="2251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对比预期与实际结果，各项指标均符合要求，证明实验成功。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" y="0"/>
            <a:ext cx="12192000" cy="29730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1904365" y="1858010"/>
            <a:ext cx="779145" cy="7905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657860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关键技术难点与解决方案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66775" y="283019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难点1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单网卡双IP的ARP响应，通过判断目标IP是否为本机任一IP解决。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655820" y="324802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难点2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路由查找的最长前缀匹配，采用计算掩码位数的匹配算法解决。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544685" y="204152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444865" y="280987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难点3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TTL和校验和的正确处理，按标准协议重新计算解决。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38000"/>
          </a:blip>
          <a:srcRect l="3" t="17538" r="35681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代码亮点展示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清晰的模块划分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4958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代码模块划分清晰，各模块功能明确，便于开发与维护。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340100" y="181610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完整的错误处理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407410" y="2431415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完善的错误处理机制，确保程序在异常情况下稳定运行。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85865" y="181610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详细的日志记录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3175" y="2431415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丰富的日志记录，便于调试与问题排查。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优雅的用户交互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28497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友好的用户交互界面，提升用户体验。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185670"/>
            <a:ext cx="11015345" cy="31927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18375" y="1027430"/>
            <a:ext cx="3193415" cy="5509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4630" y="2601595"/>
            <a:ext cx="426656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实验收获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484630" y="2987040"/>
            <a:ext cx="3596640" cy="2962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深入理解网络层协议原理，掌握路由器工作原理，提升系统编程能力。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036435" y="2643505"/>
            <a:ext cx="3860165" cy="343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改进方向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036435" y="3023870"/>
            <a:ext cx="3596640" cy="2765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实现真正的异步缓冲区，添加ICMP错误消息，优化路由查找性能。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/>
          <a:srcRect t="104" b="104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汇报人：王旭 2312166 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/18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9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20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WPS 演示</Application>
  <PresentationFormat>On-screen Show (16:9)</PresentationFormat>
  <Paragraphs>266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简化路由器程序设计实验报告</dc:title>
  <dc:creator>Kimi</dc:creator>
  <dc:subject>简化路由器程序设计实验报告</dc:subject>
  <cp:lastModifiedBy>WPS_1688353737</cp:lastModifiedBy>
  <cp:revision>2</cp:revision>
  <dcterms:created xsi:type="dcterms:W3CDTF">2025-12-17T14:58:00Z</dcterms:created>
  <dcterms:modified xsi:type="dcterms:W3CDTF">2025-12-18T01:02:55Z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{"Label":"简化路由器程序设计实验报告","ContentProducer":"001191110108MACG2KBH8F10000","ProduceID":"d51bj4bduqb7h9v5i3d0","ReservedCode1":"","ContentPropagator":"001191110108MACG2KBH8F20000","PropagateID":"d51bj4bduqb7h9v5i3d0","ReservedCode2":""}</vt:lpwstr>
  </property>
  <property fmtid="{D5CDD505-2E9C-101B-9397-08002B2CF9AE}" pid="3" name="ICV">
    <vt:lpwstr>EE4C769BD8AC417087D1EA2E36E7EC28_12</vt:lpwstr>
  </property>
  <property fmtid="{D5CDD505-2E9C-101B-9397-08002B2CF9AE}" pid="4" name="KSOProductBuildVer">
    <vt:lpwstr>2052-12.1.0.24034</vt:lpwstr>
  </property>
</Properties>
</file>